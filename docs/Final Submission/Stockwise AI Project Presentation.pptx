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Inter"/>
      <ns0:bold ns1:id="rIdFont21"/>
      <ns0:regular ns1:id="rIdFont22"/>
    </ns0:embeddedFont>
    <ns0:embeddedFont>
      <ns0:font typeface="Space Grotesk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91f2d1d0-7f62-4360-b688-df4709ad113c.fntdata" /><ns0:Relationship Id="rIdFont22" Type="http://schemas.openxmlformats.org/officeDocument/2006/relationships/font" Target="fonts/6a9c2105-c362-4efd-b300-913c85c45fb1.fntdata" /><ns0:Relationship Id="rIdFont23" Type="http://schemas.openxmlformats.org/officeDocument/2006/relationships/font" Target="fonts/169c9098-3470-401e-8d5e-2fe9387fae2e.fntdata" /><ns0:Relationship Id="rIdFont24" Type="http://schemas.openxmlformats.org/officeDocument/2006/relationships/font" Target="fonts/0680ab3b-518f-4ca3-903d-d654b3bae38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01250" y="609600"/>
            <a:ext cx="1581150" cy="438150"/>
          </a:xfrm>
          <a:prstGeom prst="roundRect">
            <a:avLst>
              <a:gd name="adj" fmla="val 17391"/>
            </a:avLst>
          </a:prstGeom>
          <a:solidFill>
            <a:srgbClr val="0D2742"/>
          </a:solidFill>
          <a:ln w="9525">
            <a:solidFill>
              <a:srgbClr val="0B3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91750" y="723900"/>
            <a:ext cx="1295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STATUS: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8334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EMFULENI LOCAL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14400"/>
            <a:ext cx="8751093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STOCKWISE AI-WMS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11510"/>
            <a:ext cx="676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AI-Driven Inventory Monitoring, Real-Time Anomaly Detection &amp; Predictive Dispatch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95975"/>
            <a:ext cx="25907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N. TSOTETSI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76950"/>
            <a:ext cx="2590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Space Grotesk"/>
              </a:rPr>
              <a:t>225118157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580" y="5895975"/>
            <a:ext cx="25907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A. MAKAMOLE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580" y="6076950"/>
            <a:ext cx="2590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Space Grotesk"/>
              </a:rPr>
              <a:t>225089122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560" y="5895975"/>
            <a:ext cx="259091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L. THATEGO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9560" y="6076950"/>
            <a:ext cx="259091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Space Grotesk"/>
              </a:rPr>
              <a:t>224376845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690" y="5895975"/>
            <a:ext cx="25907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T. G. GABRIEL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690" y="6076950"/>
            <a:ext cx="2590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Space Grotesk"/>
              </a:rPr>
              <a:t>225139987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670" y="5895975"/>
            <a:ext cx="259091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N. SIKHOSANA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670" y="6076950"/>
            <a:ext cx="259091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Space Grotesk"/>
              </a:rPr>
              <a:t>223268585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5075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600" y="2505075"/>
            <a:ext cx="35306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3060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750" y="2505075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75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943350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0600" y="3943350"/>
            <a:ext cx="35306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060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51750" y="3943350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175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PRESENTATION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Project Presentation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695575"/>
            <a:ext cx="32447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01.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00" y="2695575"/>
            <a:ext cx="3244899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02. TECHNICAL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2250" y="2695575"/>
            <a:ext cx="32447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03. DEMONSTRATION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133850"/>
            <a:ext cx="32447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04.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00" y="4133850"/>
            <a:ext cx="3244899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05. STRATEGIC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250" y="4133850"/>
            <a:ext cx="32447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06. FUTURE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962275"/>
            <a:ext cx="40837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Problem &amp;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238500"/>
            <a:ext cx="32066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Municipal challenges, core objectives, and target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200" y="2962275"/>
            <a:ext cx="40839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AI Engine &amp;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200" y="3238500"/>
            <a:ext cx="320679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Deep Autoencoders, K-Means clustering, and data 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350" y="2962275"/>
            <a:ext cx="39116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Live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350" y="3238500"/>
            <a:ext cx="32066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Telemetry, audit matrices, and natural language assistant.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400550"/>
            <a:ext cx="408371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Results &amp;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676775"/>
            <a:ext cx="32066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Loss curves, Silhouette scores, and picking latency savings.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9200" y="4400550"/>
            <a:ext cx="408390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Business &amp; 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9200" y="4676775"/>
            <a:ext cx="3889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Service delivery improvement and municipal ROI.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350" y="4400550"/>
            <a:ext cx="39116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Next Steps &amp; Closing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350" y="4676775"/>
            <a:ext cx="388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IoT expansion, mobile integration, and Q&amp;A.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17068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17068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17068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CURRENT OPERATIONAL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Municipal Warehouse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6168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Inter"/>
              </a:rPr>
              <a:t>Stock Shrinkage &amp; Misplacement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1239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Manual tracking leads to unrecorded inventory movement, delayed picking, and high vulnerability to stock leakage.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36168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Inter"/>
              </a:rPr>
              <a:t>Suboptimal Slotting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1239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Fast-moving municipal dispatch items are stored far from loading bays, increasing transit time per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36168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Inter"/>
              </a:rPr>
              <a:t>Reactive Procurement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1239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Stockouts on critical infrastructure items occur before replenishment orders are manually flagged and processed.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MEASURABLE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Objectives &amp; Success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309" y="3290887"/>
            <a:ext cx="267890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336" y="3929062"/>
            <a:ext cx="281285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Travel Time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309" y="4157662"/>
            <a:ext cx="267890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Optimized picking routes via spatial slotting.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1134" y="3290887"/>
            <a:ext cx="267890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4161" y="3929062"/>
            <a:ext cx="281285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Real-Time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1134" y="4157662"/>
            <a:ext cx="267890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Automated tracking of active inventory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1959" y="3290887"/>
            <a:ext cx="267890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0.002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986" y="3929062"/>
            <a:ext cx="281285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MSE Loss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1959" y="4157662"/>
            <a:ext cx="267890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Precision anomaly detection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784" y="3290887"/>
            <a:ext cx="267890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0.58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5811" y="3929062"/>
            <a:ext cx="281285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Silhouette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784" y="4157662"/>
            <a:ext cx="267890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Optimized physical layout clustering.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432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432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1432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" y="327660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32766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437" y="327660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HIGH-LEVEL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Stockwise AI-WMS 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752850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Live Telemetry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29075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Monitors active stock, auto-flags low inventory levels, and records picking durations across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752850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Intelligent ML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029075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Deep Autoencoders highlight operational anomalies while K-Means optimizes physical placement.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752850"/>
            <a:ext cx="3848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Natural Language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029075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Conversational AI interface allows operators to query item locations, stock levels, and expiry warnings.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5783"/>
            <a:ext cx="5372100" cy="1900832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35783"/>
            <a:ext cx="5372100" cy="1900832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300" y="3202483"/>
            <a:ext cx="100012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7000" y="3202483"/>
            <a:ext cx="82867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CORE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Machine Learning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40583"/>
            <a:ext cx="942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FFFFF"/>
                </a:solidFill>
                <a:latin typeface="Space Grotesk"/>
              </a:rP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45383"/>
            <a:ext cx="63507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Autoencoder Anomaly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40583"/>
            <a:ext cx="771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FFFFF"/>
                </a:solidFill>
                <a:latin typeface="Space Grotesk"/>
              </a:rPr>
              <a:t>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45383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K-Means Slotting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50183"/>
            <a:ext cx="6048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Target: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Unsupervised latency outlier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090094"/>
            <a:ext cx="6048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MSE Reconstruction Loss ≤ 0.0024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330005"/>
            <a:ext cx="6048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Flags potential theft or misplaced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850183"/>
            <a:ext cx="5715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Target: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Dynamic physical layout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90094"/>
            <a:ext cx="5715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Silhouette Score = 0.58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330005"/>
            <a:ext cx="5715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Clusters fast-movers near dispatch docks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6710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3362325"/>
            <a:ext cx="2400300" cy="1047750"/>
          </a:xfrm>
          <a:prstGeom prst="roundRect">
            <a:avLst>
              <a:gd name="adj" fmla="val 727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305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381000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38100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100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2" y="3552825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3552825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75" y="355282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4137" y="3552825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SYSTEM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Pipeline &amp; Component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109" y="3857625"/>
            <a:ext cx="26503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Municipal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12" y="4076700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Pharma, Auto, Groceries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1609" y="3857625"/>
            <a:ext cx="26503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Streamlit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4712" y="4076700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Real-time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584" y="3857625"/>
            <a:ext cx="26503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Inter"/>
              </a:rPr>
              <a:t>ML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2687" y="4076700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FFFFF"/>
                </a:solidFill>
                <a:latin typeface="Inter"/>
              </a:rPr>
              <a:t>Autoencoder +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7559" y="3857625"/>
            <a:ext cx="26503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Operator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0662" y="4076700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Alerts &amp;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1600"/>
            <a:ext cx="10972800" cy="4953000"/>
          </a:xfrm>
          <a:prstGeom prst="roundRect">
            <a:avLst>
              <a:gd name="adj" fmla="val 23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5819775"/>
            <a:ext cx="105156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5819775"/>
            <a:ext cx="10515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LIVE INTERFACE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Conversational AI Interface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600200"/>
            <a:ext cx="11353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Space Grotesk"/>
              </a:rPr>
              <a:t>[SIMULATED CONVERSATION LOGS - LIVE DEPOT ASSISTANT]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943600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Space Grotesk"/>
              </a:rPr>
              <a:t>Direct Anomaly &amp; Location Query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8875" y="5943600"/>
            <a:ext cx="1631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Space Grotesk"/>
              </a:rPr>
              <a:t>Streamlit Engine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914525"/>
            <a:ext cx="11353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User: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Where is the medicine?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14550"/>
            <a:ext cx="11353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DE80"/>
                </a:solidFill>
                <a:latin typeface="Inter"/>
              </a:rPr>
              <a:t>Bot:</a:t>
            </a:r>
            <a:r>
              <a:rPr b="0" sz="1050" i="0" u="none">
                <a:solidFill>
                  <a:srgbClr val="4ADE80"/>
                </a:solidFill>
                <a:latin typeface="Inter"/>
              </a:rPr>
              <a:t> Medicine is kept in the secure Pharma cabinet, Aisle 5. Please check expiry before dispensing.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28875"/>
            <a:ext cx="11353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User: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Where is the blue cable?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28900"/>
            <a:ext cx="11353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DE80"/>
                </a:solidFill>
                <a:latin typeface="Inter"/>
              </a:rPr>
              <a:t>Bot:</a:t>
            </a:r>
            <a:r>
              <a:rPr b="0" sz="1050" i="0" u="none">
                <a:solidFill>
                  <a:srgbClr val="4ADE80"/>
                </a:solidFill>
                <a:latin typeface="Inter"/>
              </a:rPr>
              <a:t> 16mm Electrical Cable is in Aisle 3, Shelf 2. Quantity: 15 units remaining.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81325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Evaluation &amp;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8025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ANOMALY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95675"/>
            <a:ext cx="604837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0.0024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33850"/>
            <a:ext cx="63507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MSE Reconstruction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62450"/>
            <a:ext cx="6048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Detects 12 specific picking anomalies per shift reliably.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2480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SLOTTING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495675"/>
            <a:ext cx="5715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0.58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133850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Silhouette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362450"/>
            <a:ext cx="571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Clusters fast-moving stock dynamically near dispatch docks.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SYSTEM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Risks, Constraints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81362"/>
            <a:ext cx="3168699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Inter"/>
              </a:rPr>
              <a:t>RISK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281362"/>
            <a:ext cx="3168699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Inter"/>
              </a:rPr>
              <a:t>RISK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281362"/>
            <a:ext cx="3168699" cy="120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Inter"/>
              </a:rPr>
              <a:t>RISK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48062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Sensor / Input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242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Manual entry errors distorting picking durations and triggering false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38637"/>
            <a:ext cx="3841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Mitigation: Autoencoder noise-filtering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3548062"/>
            <a:ext cx="40339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Network Disruption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49" y="38242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Loss of connectivity interrupting live telemetry updates from depot floors.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349" y="4338637"/>
            <a:ext cx="3841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Mitigation: Local Streamlit offline queue buffer.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548062"/>
            <a:ext cx="3911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Operator Resistance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3824287"/>
            <a:ext cx="3168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Reluctance from floor staff to adopt new conversational query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4338637"/>
            <a:ext cx="3841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Mitigation: Voice-enabled natural language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62287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8512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33851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VALUE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Business &amp; Community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7612"/>
            <a:ext cx="63257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Inter"/>
              </a:rPr>
              <a:t>Municipal Resource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33837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Reduces inventory shrinkage and prevents over-procurement across all municipal dispatch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757612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Inter"/>
              </a:rPr>
              <a:t>Accelerated Service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033837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Speeds up dispatch of maintenance parts and pharmaceuticals to municipal facilities and community clinics.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2426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222426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SYSTEM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89126"/>
            <a:ext cx="63507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489126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03451"/>
            <a:ext cx="6048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• Simulated picking telemetry instead of hardware RFID tags.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43362"/>
            <a:ext cx="6048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• Single-depot layout model for Emfuleni main warehouse.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803451"/>
            <a:ext cx="5715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• IoT RFID scanner integration for continuous live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043362"/>
            <a:ext cx="57150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• Cross-depot municipal multi-facility inventory routing.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52787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252787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SUMMARY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519487"/>
            <a:ext cx="49339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519487"/>
            <a:ext cx="49339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24287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Stockwise AI successfully converts manual municipal warehouse operations into an automated, anomaly-aware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824287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Proceed with full physical IoT deployment at Emfuleni Municipality and integrate with local procurement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2550" y="4000500"/>
            <a:ext cx="1866900" cy="523875"/>
          </a:xfrm>
          <a:prstGeom prst="roundRect">
            <a:avLst>
              <a:gd name="adj" fmla="val 14545"/>
            </a:avLst>
          </a:prstGeom>
          <a:solidFill>
            <a:srgbClr val="0D2742"/>
          </a:solidFill>
          <a:ln w="9525">
            <a:solidFill>
              <a:srgbClr val="0B3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69593" y="2333625"/>
            <a:ext cx="3452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EMFULENI LOCAL MUNICIPALITY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4514" y="2638425"/>
            <a:ext cx="3762970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4390" y="3467100"/>
            <a:ext cx="6703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Stockwise AI-WMS Project Team •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3987" y="4152900"/>
            <a:ext cx="17240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