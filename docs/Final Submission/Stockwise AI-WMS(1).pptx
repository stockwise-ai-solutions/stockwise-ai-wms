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Inter"/>
      <p:bold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Space Grotesk"/>
      <p:bold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27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581650"/>
            <a:ext cx="109728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581650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496174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284C7"/>
                </a:solidFill>
                <a:latin typeface="Inter"/>
              </a:rPr>
              <a:t>EMFULENI LOCAL MUNICIPALITY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638772"/>
            <a:ext cx="10316414" cy="647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290"/>
              </a:lnSpc>
            </a:pPr>
            <a:r>
              <a:rPr sz="8000" b="1" i="0" u="none" dirty="0">
                <a:solidFill>
                  <a:srgbClr val="F8FAFC"/>
                </a:solidFill>
                <a:latin typeface="Space Grotesk"/>
              </a:rPr>
              <a:t>STOCKWISE AI-WMS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379923"/>
            <a:ext cx="676275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u="none" dirty="0">
                <a:solidFill>
                  <a:srgbClr val="94A3B8"/>
                </a:solidFill>
                <a:latin typeface="Inter"/>
              </a:rPr>
              <a:t>AI-Driven Inventory Monitoring, Real-Time Anomaly Detection &amp; Predictive Dispatch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895975"/>
            <a:ext cx="788677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 dirty="0" smtClean="0">
                <a:solidFill>
                  <a:srgbClr val="64748B"/>
                </a:solidFill>
                <a:latin typeface="Inter"/>
              </a:rPr>
              <a:t>N.</a:t>
            </a:r>
            <a:r>
              <a:rPr lang="en-US" sz="900" b="1" i="0" u="none" dirty="0" smtClean="0">
                <a:solidFill>
                  <a:srgbClr val="64748B"/>
                </a:solidFill>
                <a:latin typeface="Inter"/>
              </a:rPr>
              <a:t>E</a:t>
            </a:r>
            <a:r>
              <a:rPr sz="900" b="1" i="0" u="none" dirty="0" smtClean="0">
                <a:solidFill>
                  <a:srgbClr val="64748B"/>
                </a:solidFill>
                <a:latin typeface="Inter"/>
              </a:rPr>
              <a:t> </a:t>
            </a:r>
            <a:r>
              <a:rPr sz="900" b="1" i="0" u="none" dirty="0">
                <a:solidFill>
                  <a:srgbClr val="64748B"/>
                </a:solidFill>
                <a:latin typeface="Inter"/>
              </a:rPr>
              <a:t>TSOTETSI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076950"/>
            <a:ext cx="25907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Space Grotesk"/>
              </a:rPr>
              <a:t>225118157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580" y="5895975"/>
            <a:ext cx="25907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64748B"/>
                </a:solidFill>
                <a:latin typeface="Inter"/>
              </a:rPr>
              <a:t>A. MAKAMOLE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580" y="6076950"/>
            <a:ext cx="25907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Space Grotesk"/>
              </a:rPr>
              <a:t>225089122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9560" y="5895975"/>
            <a:ext cx="756617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00" b="1" i="0" u="none" dirty="0" smtClean="0">
                <a:solidFill>
                  <a:srgbClr val="64748B"/>
                </a:solidFill>
                <a:latin typeface="Inter"/>
              </a:rPr>
              <a:t>T.A LEBIDIKE</a:t>
            </a:r>
            <a:endParaRPr sz="900" b="1" i="0" u="none" dirty="0">
              <a:solidFill>
                <a:srgbClr val="64748B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59560" y="6076950"/>
            <a:ext cx="259091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Space Grotesk"/>
              </a:rPr>
              <a:t>224376845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4690" y="5895975"/>
            <a:ext cx="730969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00" b="1" i="0" u="none" dirty="0" smtClean="0">
                <a:solidFill>
                  <a:srgbClr val="64748B"/>
                </a:solidFill>
                <a:latin typeface="Inter"/>
              </a:rPr>
              <a:t>G.G TOYANA</a:t>
            </a:r>
            <a:endParaRPr sz="900" b="1" i="0" u="none" dirty="0">
              <a:solidFill>
                <a:srgbClr val="64748B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284690" y="6076950"/>
            <a:ext cx="25907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Space Grotesk"/>
              </a:rPr>
              <a:t>225139987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670" y="5895975"/>
            <a:ext cx="259091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64748B"/>
                </a:solidFill>
                <a:latin typeface="Inter"/>
              </a:rPr>
              <a:t>N. SIKHOSANA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670" y="6076950"/>
            <a:ext cx="259091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Space Grotesk"/>
              </a:rPr>
              <a:t>223268585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05075"/>
            <a:ext cx="3530500" cy="1247775"/>
          </a:xfrm>
          <a:prstGeom prst="roundRect">
            <a:avLst>
              <a:gd name="adj" fmla="val 61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2505075"/>
            <a:ext cx="38100" cy="1247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30600" y="2505075"/>
            <a:ext cx="3530649" cy="1247775"/>
          </a:xfrm>
          <a:prstGeom prst="roundRect">
            <a:avLst>
              <a:gd name="adj" fmla="val 61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30600" y="2505075"/>
            <a:ext cx="38100" cy="1247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51750" y="2505075"/>
            <a:ext cx="3530500" cy="1247775"/>
          </a:xfrm>
          <a:prstGeom prst="roundRect">
            <a:avLst>
              <a:gd name="adj" fmla="val 61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51750" y="2505075"/>
            <a:ext cx="38100" cy="1247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09600" y="3943350"/>
            <a:ext cx="3530500" cy="1247775"/>
          </a:xfrm>
          <a:prstGeom prst="roundRect">
            <a:avLst>
              <a:gd name="adj" fmla="val 61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3943350"/>
            <a:ext cx="38100" cy="1247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30600" y="3943350"/>
            <a:ext cx="3530649" cy="1247775"/>
          </a:xfrm>
          <a:prstGeom prst="roundRect">
            <a:avLst>
              <a:gd name="adj" fmla="val 61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30600" y="3943350"/>
            <a:ext cx="38100" cy="1247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51750" y="3943350"/>
            <a:ext cx="3530500" cy="1247775"/>
          </a:xfrm>
          <a:prstGeom prst="roundRect">
            <a:avLst>
              <a:gd name="adj" fmla="val 61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51750" y="3943350"/>
            <a:ext cx="38100" cy="1247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PRESENTATION 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Project Presentation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2695575"/>
            <a:ext cx="3244750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01. FOUNDATION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100" y="2695575"/>
            <a:ext cx="3244899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02. TECHNICAL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2250" y="2695575"/>
            <a:ext cx="3244750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03. DEMONSTRATION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4133850"/>
            <a:ext cx="3244750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04.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1100" y="4133850"/>
            <a:ext cx="3244899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05. STRATEGIC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2250" y="4133850"/>
            <a:ext cx="3244750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06. FUTURE ROADMAP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962275"/>
            <a:ext cx="408371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Problem &amp; Goals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3238500"/>
            <a:ext cx="32066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Municipal challenges, core objectives, and target metrics.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9200" y="2962275"/>
            <a:ext cx="408390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AI Engine &amp;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9200" y="3238500"/>
            <a:ext cx="3206799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Deep Autoencoders, K-Means clustering, and data flow.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0350" y="2962275"/>
            <a:ext cx="391164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Live Prototype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0350" y="3238500"/>
            <a:ext cx="32066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Telemetry, audit matrices, and natural language assistant.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4400550"/>
            <a:ext cx="408371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Results &amp; 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4676775"/>
            <a:ext cx="32066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Loss curves, Silhouette scores, and picking latency savings.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9200" y="4400550"/>
            <a:ext cx="408390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Business &amp; Community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9200" y="4676775"/>
            <a:ext cx="388943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Service delivery improvement and municipal ROI.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0350" y="4400550"/>
            <a:ext cx="391164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Next Steps &amp; Closing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0350" y="4676775"/>
            <a:ext cx="3889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IoT expansion, mobile integration, and Q&amp;A.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40843"/>
            <a:ext cx="3505200" cy="1890712"/>
          </a:xfrm>
          <a:prstGeom prst="roundRect">
            <a:avLst>
              <a:gd name="adj" fmla="val 6045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40843"/>
            <a:ext cx="3505200" cy="1890712"/>
          </a:xfrm>
          <a:prstGeom prst="roundRect">
            <a:avLst>
              <a:gd name="adj" fmla="val 6045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40843"/>
            <a:ext cx="3505200" cy="1890712"/>
          </a:xfrm>
          <a:prstGeom prst="roundRect">
            <a:avLst>
              <a:gd name="adj" fmla="val 6045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217068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217068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217068"/>
            <a:ext cx="33337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CURRENT OPERATIONAL PAIN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Municipal Warehouse Bottlenecks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636168"/>
            <a:ext cx="387548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F1239"/>
                </a:solidFill>
                <a:latin typeface="Inter"/>
              </a:rPr>
              <a:t>Stock Shrinkage &amp; Misplacement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912393"/>
            <a:ext cx="30480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Manual tracking leads to unrecorded inventory movement, delayed picking, and high vulnerability to stock leakage.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636168"/>
            <a:ext cx="387548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F1239"/>
                </a:solidFill>
                <a:latin typeface="Inter"/>
              </a:rPr>
              <a:t>Suboptimal Slotting Allocation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3912393"/>
            <a:ext cx="30480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Fast-moving municipal dispatch items are stored far from loading bays, increasing transit time per order.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636168"/>
            <a:ext cx="38385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F1239"/>
                </a:solidFill>
                <a:latin typeface="Inter"/>
              </a:rPr>
              <a:t>Reactive Procurement Delays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3912393"/>
            <a:ext cx="30480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Stockouts on critical infrastructure items occur before replenishment orders are manually flagged and processed.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62287"/>
            <a:ext cx="2600325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3062287"/>
            <a:ext cx="2600325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3062287"/>
            <a:ext cx="2600325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3062287"/>
            <a:ext cx="2600325" cy="1647825"/>
          </a:xfrm>
          <a:prstGeom prst="roundRect">
            <a:avLst>
              <a:gd name="adj" fmla="val 69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MEASURABLE GOALS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Objectives &amp; Success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0309" y="3290887"/>
            <a:ext cx="2678906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284C7"/>
                </a:solidFill>
                <a:latin typeface="Inter"/>
              </a:rPr>
              <a:t>38%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336" y="3929062"/>
            <a:ext cx="281285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Travel Time Cut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0309" y="4157662"/>
            <a:ext cx="267890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Optimized picking routes via spatial slotting.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1134" y="3290887"/>
            <a:ext cx="2678906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284C7"/>
                </a:solidFill>
                <a:latin typeface="Inter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4161" y="3929062"/>
            <a:ext cx="281285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Real-Time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1134" y="4157662"/>
            <a:ext cx="267890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Automated tracking of active inventory units.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1959" y="3290887"/>
            <a:ext cx="2678906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284C7"/>
                </a:solidFill>
                <a:latin typeface="Inter"/>
              </a:rPr>
              <a:t>0.002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4986" y="3929062"/>
            <a:ext cx="281285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MSE Loss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1959" y="4157662"/>
            <a:ext cx="267890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Precision anomaly detection threshold.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2784" y="3290887"/>
            <a:ext cx="2678906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284C7"/>
                </a:solidFill>
                <a:latin typeface="Inter"/>
              </a:rPr>
              <a:t>0.58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5811" y="3929062"/>
            <a:ext cx="281285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Inter"/>
              </a:rPr>
              <a:t>Silhouette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784" y="4157662"/>
            <a:ext cx="2678906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Optimized physical layout clustering.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76550"/>
            <a:ext cx="3505200" cy="2019300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876550"/>
            <a:ext cx="3505200" cy="2019300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76550"/>
            <a:ext cx="3505200" cy="2019300"/>
          </a:xfrm>
          <a:prstGeom prst="roundRect">
            <a:avLst>
              <a:gd name="adj" fmla="val 56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14325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0" y="314325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900" y="314325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362" y="3276600"/>
            <a:ext cx="21907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450" y="3276600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437" y="3276600"/>
            <a:ext cx="23812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HIGH-LEVEL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Stockwise AI-WMS Architecture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752850"/>
            <a:ext cx="3900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Live Telemetry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029075"/>
            <a:ext cx="30670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Monitors active stock, auto-flags low inventory levels, and records picking durations across categories.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752850"/>
            <a:ext cx="39004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Intelligent ML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0100" y="4029075"/>
            <a:ext cx="30670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Deep Autoencoders highlight operational anomalies while K-Means optimizes physical placement.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3900" y="3752850"/>
            <a:ext cx="38481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Natural Language Assistant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3900" y="4029075"/>
            <a:ext cx="30670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Conversational AI interface allows operators to query item locations, stock levels, and expiry warnings.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35783"/>
            <a:ext cx="5372100" cy="1900832"/>
          </a:xfrm>
          <a:prstGeom prst="roundRect">
            <a:avLst>
              <a:gd name="adj" fmla="val 601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935783"/>
            <a:ext cx="5372100" cy="1900832"/>
          </a:xfrm>
          <a:prstGeom prst="roundRect">
            <a:avLst>
              <a:gd name="adj" fmla="val 601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76300" y="3202483"/>
            <a:ext cx="1000125" cy="228600"/>
          </a:xfrm>
          <a:prstGeom prst="roundRect">
            <a:avLst>
              <a:gd name="adj" fmla="val 16666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77000" y="3202483"/>
            <a:ext cx="828675" cy="228600"/>
          </a:xfrm>
          <a:prstGeom prst="roundRect">
            <a:avLst>
              <a:gd name="adj" fmla="val 16666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CORE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Machine Learning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240583"/>
            <a:ext cx="9429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FFFFF"/>
                </a:solidFill>
                <a:latin typeface="Space Grotesk"/>
              </a:rPr>
              <a:t>DEEP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545383"/>
            <a:ext cx="635079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Autoencoder Anomaly Detector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200" y="3240583"/>
            <a:ext cx="7715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FFFFF"/>
                </a:solidFill>
                <a:latin typeface="Space Grotesk"/>
              </a:rPr>
              <a:t>CLUSTERING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545383"/>
            <a:ext cx="5715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K-Means Slotting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850183"/>
            <a:ext cx="6048375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Target: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Unsupervised latency outlier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090094"/>
            <a:ext cx="6048375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Metric: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MSE Reconstruction Loss ≤ 0.0024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330005"/>
            <a:ext cx="6048375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Function: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Flags potential theft or misplaced stock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3850183"/>
            <a:ext cx="57150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Target: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Dynamic physical layout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4090094"/>
            <a:ext cx="57150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Metric: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Silhouette Score = 0.58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4330005"/>
            <a:ext cx="57150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475569"/>
                </a:solidFill>
                <a:latin typeface="Inter"/>
              </a:rPr>
              <a:t>Function:</a:t>
            </a:r>
            <a:r>
              <a:rPr sz="1050" b="0" i="0" u="none">
                <a:solidFill>
                  <a:srgbClr val="475569"/>
                </a:solidFill>
                <a:latin typeface="Inter"/>
              </a:rPr>
              <a:t> Clusters fast-movers near dispatch docks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352800"/>
            <a:ext cx="2419350" cy="10668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67100" y="3352800"/>
            <a:ext cx="2419350" cy="10668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24600" y="3362325"/>
            <a:ext cx="2400300" cy="1047750"/>
          </a:xfrm>
          <a:prstGeom prst="roundRect">
            <a:avLst>
              <a:gd name="adj" fmla="val 727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63050" y="3352800"/>
            <a:ext cx="2419350" cy="10668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350" y="3810000"/>
            <a:ext cx="1333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850" y="3810000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300" y="3810000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262" y="3552825"/>
            <a:ext cx="200025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900" y="3552825"/>
            <a:ext cx="28575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1875" y="3552825"/>
            <a:ext cx="28575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4137" y="3552825"/>
            <a:ext cx="257175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SYSTEM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Data Pipeline &amp; Component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109" y="3857625"/>
            <a:ext cx="26503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Inter"/>
              </a:rPr>
              <a:t>Municipal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212" y="4076700"/>
            <a:ext cx="25241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Inter"/>
              </a:rPr>
              <a:t>Pharma, Auto, Groceries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1609" y="3857625"/>
            <a:ext cx="26503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Inter"/>
              </a:rPr>
              <a:t>Streamlit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4712" y="4076700"/>
            <a:ext cx="25241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Inter"/>
              </a:rPr>
              <a:t>Real-time Telemetry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584" y="3857625"/>
            <a:ext cx="26503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FFFFF"/>
                </a:solidFill>
                <a:latin typeface="Inter"/>
              </a:rPr>
              <a:t>ML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2687" y="4076700"/>
            <a:ext cx="25241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FFFFFF"/>
                </a:solidFill>
                <a:latin typeface="Inter"/>
              </a:rPr>
              <a:t>Autoencoder + K-Means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7559" y="3857625"/>
            <a:ext cx="26503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Inter"/>
              </a:rPr>
              <a:t>Operator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0662" y="4076700"/>
            <a:ext cx="25241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Inter"/>
              </a:rPr>
              <a:t>Alerts &amp; Assistant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71600"/>
            <a:ext cx="10972800" cy="4953000"/>
          </a:xfrm>
          <a:prstGeom prst="roundRect">
            <a:avLst>
              <a:gd name="adj" fmla="val 230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38200" y="5819775"/>
            <a:ext cx="10515600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38200" y="5819775"/>
            <a:ext cx="105156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LIVE INTERFACE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Conversational AI Interface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600200"/>
            <a:ext cx="113538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8BDF8"/>
                </a:solidFill>
                <a:latin typeface="Space Grotesk"/>
              </a:rPr>
              <a:t>[SIMULATED CONVERSATION LOGS - LIVE DEPOT ASSISTANT]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943600"/>
            <a:ext cx="2786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Space Grotesk"/>
              </a:rPr>
              <a:t>Direct Anomaly &amp; Location Query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8875" y="5943600"/>
            <a:ext cx="163115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38BDF8"/>
                </a:solidFill>
                <a:latin typeface="Space Grotesk"/>
              </a:rPr>
              <a:t>Streamlit Engine 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914525"/>
            <a:ext cx="113538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4A3B8"/>
                </a:solidFill>
                <a:latin typeface="Inter"/>
              </a:rPr>
              <a:t>User:</a:t>
            </a:r>
            <a:r>
              <a:rPr sz="1050" b="0" i="0" u="none">
                <a:solidFill>
                  <a:srgbClr val="94A3B8"/>
                </a:solidFill>
                <a:latin typeface="Inter"/>
              </a:rPr>
              <a:t> Where is the medicine?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114550"/>
            <a:ext cx="113538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ADE80"/>
                </a:solidFill>
                <a:latin typeface="Inter"/>
              </a:rPr>
              <a:t>Bot:</a:t>
            </a:r>
            <a:r>
              <a:rPr sz="1050" b="0" i="0" u="none">
                <a:solidFill>
                  <a:srgbClr val="4ADE80"/>
                </a:solidFill>
                <a:latin typeface="Inter"/>
              </a:rPr>
              <a:t> Medicine is kept in the secure Pharma cabinet, Aisle 5. Please check expiry before dispensing.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428875"/>
            <a:ext cx="113538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4A3B8"/>
                </a:solidFill>
                <a:latin typeface="Inter"/>
              </a:rPr>
              <a:t>User:</a:t>
            </a:r>
            <a:r>
              <a:rPr sz="1050" b="0" i="0" u="none">
                <a:solidFill>
                  <a:srgbClr val="94A3B8"/>
                </a:solidFill>
                <a:latin typeface="Inter"/>
              </a:rPr>
              <a:t> Where is the blue cable?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628900"/>
            <a:ext cx="113538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ADE80"/>
                </a:solidFill>
                <a:latin typeface="Inter"/>
              </a:rPr>
              <a:t>Bot:</a:t>
            </a:r>
            <a:r>
              <a:rPr sz="1050" b="0" i="0" u="none">
                <a:solidFill>
                  <a:srgbClr val="4ADE80"/>
                </a:solidFill>
                <a:latin typeface="Inter"/>
              </a:rPr>
              <a:t> 16mm Electrical Cable is in Aisle 3, Shelf 2. Quantity: 15 units remaining.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81325"/>
            <a:ext cx="5372100" cy="1809750"/>
          </a:xfrm>
          <a:prstGeom prst="roundRect">
            <a:avLst>
              <a:gd name="adj" fmla="val 63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981325"/>
            <a:ext cx="5372100" cy="1809750"/>
          </a:xfrm>
          <a:prstGeom prst="roundRect">
            <a:avLst>
              <a:gd name="adj" fmla="val 63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MODEL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Evaluation &amp; Performance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248025"/>
            <a:ext cx="6048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ANOMALY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495675"/>
            <a:ext cx="6048375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Inter"/>
              </a:rPr>
              <a:t>0.0024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4133850"/>
            <a:ext cx="635079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MSE Reconstruction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362450"/>
            <a:ext cx="60483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Detects 12 specific picking anomalies per shift reliably.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3248025"/>
            <a:ext cx="5715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SLOTTING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495675"/>
            <a:ext cx="5715000" cy="561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Inter"/>
              </a:rPr>
              <a:t>0.58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4133850"/>
            <a:ext cx="5715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Silhouette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4362450"/>
            <a:ext cx="5715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Clusters fast-moving stock dynamically near dispatch docks.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52762"/>
            <a:ext cx="3530649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0749" y="3052762"/>
            <a:ext cx="3530649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3052762"/>
            <a:ext cx="3530649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SYSTEM RELIABILITY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Risks, Constraints &amp; Mitigations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281362"/>
            <a:ext cx="3168699" cy="1209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E11D48"/>
                </a:solidFill>
                <a:latin typeface="Inter"/>
              </a:rPr>
              <a:t>RISK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9349" y="3281362"/>
            <a:ext cx="3168699" cy="1209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E11D48"/>
                </a:solidFill>
                <a:latin typeface="Inter"/>
              </a:rPr>
              <a:t>RISK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499" y="3281362"/>
            <a:ext cx="3168699" cy="1209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E11D48"/>
                </a:solidFill>
                <a:latin typeface="Inter"/>
              </a:rPr>
              <a:t>RISK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548062"/>
            <a:ext cx="403390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Sensor / Input Noise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824287"/>
            <a:ext cx="31686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Manual entry errors distorting picking durations and triggering false alerts.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338637"/>
            <a:ext cx="38418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Mitigation: Autoencoder noise-filtering layer.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9349" y="3548062"/>
            <a:ext cx="403390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Network Disruption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9349" y="3824287"/>
            <a:ext cx="31686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Loss of connectivity interrupting live telemetry updates from depot floors.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9349" y="4338637"/>
            <a:ext cx="38418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Mitigation: Local Streamlit offline queue buffer.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0499" y="3548062"/>
            <a:ext cx="3911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Operator Resistance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0499" y="3824287"/>
            <a:ext cx="31686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Reluctance from floor staff to adopt new conversational query workflows.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0499" y="4338637"/>
            <a:ext cx="38418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Inter"/>
              </a:rPr>
              <a:t>Mitigation: Voice-enabled natural language queries.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62287"/>
            <a:ext cx="5372100" cy="1647825"/>
          </a:xfrm>
          <a:prstGeom prst="roundRect">
            <a:avLst>
              <a:gd name="adj" fmla="val 6936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3062287"/>
            <a:ext cx="5372100" cy="1647825"/>
          </a:xfrm>
          <a:prstGeom prst="roundRect">
            <a:avLst>
              <a:gd name="adj" fmla="val 6936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38512"/>
            <a:ext cx="266700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3338512"/>
            <a:ext cx="333375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VALUE CREATION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Business &amp; Community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57612"/>
            <a:ext cx="632579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Inter"/>
              </a:rPr>
              <a:t>Municipal Resource Savings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4033837"/>
            <a:ext cx="49149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Reduces inventory shrinkage and prevents over-procurement across all municipal dispatch categories.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525" y="3757612"/>
            <a:ext cx="57054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369A1"/>
                </a:solidFill>
                <a:latin typeface="Inter"/>
              </a:rPr>
              <a:t>Accelerated Service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4033837"/>
            <a:ext cx="49149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Speeds up dispatch of maintenance parts and pharmaceuticals to municipal facilities and community clinics.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22426"/>
            <a:ext cx="5372100" cy="1327546"/>
          </a:xfrm>
          <a:prstGeom prst="roundRect">
            <a:avLst>
              <a:gd name="adj" fmla="val 86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3222426"/>
            <a:ext cx="5372100" cy="1327546"/>
          </a:xfrm>
          <a:prstGeom prst="roundRect">
            <a:avLst>
              <a:gd name="adj" fmla="val 86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SYSTEM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Limitations &amp;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489126"/>
            <a:ext cx="63507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Current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0" y="3489126"/>
            <a:ext cx="5715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Future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03451"/>
            <a:ext cx="6048375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• Simulated picking telemetry instead of hardware RFID tags.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043362"/>
            <a:ext cx="6048375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• Single-depot layout model for Emfuleni main warehouse.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3803451"/>
            <a:ext cx="57150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• IoT RFID scanner integration for continuous live tracking.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4043362"/>
            <a:ext cx="5715000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• Cross-depot municipal multi-facility inventory routing.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52787"/>
            <a:ext cx="5372100" cy="1266825"/>
          </a:xfrm>
          <a:prstGeom prst="roundRect">
            <a:avLst>
              <a:gd name="adj" fmla="val 902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3252787"/>
            <a:ext cx="5372100" cy="1266825"/>
          </a:xfrm>
          <a:prstGeom prst="roundRect">
            <a:avLst>
              <a:gd name="adj" fmla="val 902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SUMMARY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71525"/>
            <a:ext cx="11582400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Inter"/>
              </a:rPr>
              <a:t>Conclusion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519487"/>
            <a:ext cx="4933950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0" y="3519487"/>
            <a:ext cx="4933950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824287"/>
            <a:ext cx="49339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Stockwise AI successfully converts manual municipal warehouse operations into an automated, anomaly-aware ecosystem.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3824287"/>
            <a:ext cx="49339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Inter"/>
              </a:rPr>
              <a:t>Proceed with full physical IoT deployment at Emfuleni Municipality and integrate with local procurement workflows.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91112" y="4906662"/>
            <a:ext cx="1866900" cy="523875"/>
          </a:xfrm>
          <a:prstGeom prst="roundRect">
            <a:avLst>
              <a:gd name="adj" fmla="val 14545"/>
            </a:avLst>
          </a:prstGeom>
          <a:solidFill>
            <a:srgbClr val="0D2742"/>
          </a:solidFill>
          <a:ln w="9525">
            <a:solidFill>
              <a:srgbClr val="0B38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25528" y="2333625"/>
            <a:ext cx="4140942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 i="0" u="none" dirty="0">
                <a:solidFill>
                  <a:srgbClr val="0284C7"/>
                </a:solidFill>
                <a:latin typeface="Inter"/>
              </a:rPr>
              <a:t>EMFULENI LOCAL MUNICIPALITY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56353" y="2793801"/>
            <a:ext cx="6079293" cy="12311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0" b="1" i="0" u="none" dirty="0">
                <a:solidFill>
                  <a:srgbClr val="F8FAFC"/>
                </a:solidFill>
                <a:latin typeface="Space Grotesk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72952" y="4377187"/>
            <a:ext cx="670321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Inter"/>
              </a:rPr>
              <a:t>Stockwise AI-WMS Project Team • 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2549" y="5059061"/>
            <a:ext cx="17240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rgbClr val="38BDF8"/>
                </a:solidFill>
                <a:latin typeface="Inter"/>
              </a:rPr>
              <a:t>ANY QUESTIONS?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719</Words>
  <Application>Microsoft Office PowerPoint</Application>
  <PresentationFormat>Widescreen</PresentationFormat>
  <Paragraphs>142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Inter</vt:lpstr>
      <vt:lpstr>Calibri</vt:lpstr>
      <vt:lpstr>Space Grotesk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Thatego Lebidike</dc:creator>
  <cp:keywords/>
  <dc:description>generated using python-pptx</dc:description>
  <cp:lastModifiedBy>Thatego Lebidike</cp:lastModifiedBy>
  <cp:revision>2</cp:revision>
  <dcterms:created xsi:type="dcterms:W3CDTF">2013-01-27T09:14:16Z</dcterms:created>
  <dcterms:modified xsi:type="dcterms:W3CDTF">2026-10-28T12:10:15Z</dcterms:modified>
  <cp:category/>
</cp:coreProperties>
</file>