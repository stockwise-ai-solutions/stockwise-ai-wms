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embeddedFontLst>
    <p:embeddedFont>
      <p:font typeface="Inter"/>
      <p:bold r:id="rId16"/>
    </p:embeddedFont>
    <p:embeddedFont>
      <p:font typeface="Space Grotesk"/>
      <p:bold r:id="rId17"/>
    </p:embeddedFont>
    <p:embeddedFont>
      <p:font typeface="Calibri" panose="020F0502020204030204" pitchFamily="34" charset="0"/>
      <p:regular r:id="rId18"/>
      <p:bold r:id="rId19"/>
      <p:italic r:id="rId20"/>
      <p:boldItalic r:id="rId2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3" d="100"/>
          <a:sy n="73" d="100"/>
        </p:scale>
        <p:origin x="77" y="49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5581650"/>
            <a:ext cx="10972800" cy="666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600" y="5581650"/>
            <a:ext cx="1097280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9600" y="609600"/>
            <a:ext cx="4961743" cy="3693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 dirty="0">
                <a:solidFill>
                  <a:srgbClr val="0284C7"/>
                </a:solidFill>
                <a:latin typeface="Inter"/>
              </a:rPr>
              <a:t>EMFULENI LOCAL MUNICIPALITY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638772"/>
            <a:ext cx="10316414" cy="6471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4290"/>
              </a:lnSpc>
            </a:pPr>
            <a:r>
              <a:rPr sz="8000" b="1" i="0" u="none" dirty="0">
                <a:solidFill>
                  <a:srgbClr val="F8FAFC"/>
                </a:solidFill>
                <a:latin typeface="Space Grotesk"/>
              </a:rPr>
              <a:t>STOCKWISE AI-WMS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379923"/>
            <a:ext cx="676275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u="none" dirty="0">
                <a:solidFill>
                  <a:srgbClr val="94A3B8"/>
                </a:solidFill>
                <a:latin typeface="Inter"/>
              </a:rPr>
              <a:t>AI-Driven Inventory Monitoring, Real-Time Anomaly Detection &amp; Predictive Dispatch 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895975"/>
            <a:ext cx="788677" cy="1384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 dirty="0" smtClean="0">
                <a:solidFill>
                  <a:srgbClr val="64748B"/>
                </a:solidFill>
                <a:latin typeface="Inter"/>
              </a:rPr>
              <a:t>N.</a:t>
            </a:r>
            <a:r>
              <a:rPr lang="en-US" sz="900" b="1" i="0" u="none" dirty="0" smtClean="0">
                <a:solidFill>
                  <a:srgbClr val="64748B"/>
                </a:solidFill>
                <a:latin typeface="Inter"/>
              </a:rPr>
              <a:t>E</a:t>
            </a:r>
            <a:r>
              <a:rPr sz="900" b="1" i="0" u="none" dirty="0" smtClean="0">
                <a:solidFill>
                  <a:srgbClr val="64748B"/>
                </a:solidFill>
                <a:latin typeface="Inter"/>
              </a:rPr>
              <a:t> </a:t>
            </a:r>
            <a:r>
              <a:rPr sz="900" b="1" i="0" u="none" dirty="0">
                <a:solidFill>
                  <a:srgbClr val="64748B"/>
                </a:solidFill>
                <a:latin typeface="Inter"/>
              </a:rPr>
              <a:t>TSOTETSI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6076950"/>
            <a:ext cx="2590725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CBD5E1"/>
                </a:solidFill>
                <a:latin typeface="Space Grotesk"/>
              </a:rPr>
              <a:t>225118157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580" y="5895975"/>
            <a:ext cx="2590725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 dirty="0">
                <a:solidFill>
                  <a:srgbClr val="64748B"/>
                </a:solidFill>
                <a:latin typeface="Inter"/>
              </a:rPr>
              <a:t>A. MAKAMOLE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580" y="6076950"/>
            <a:ext cx="2590725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CBD5E1"/>
                </a:solidFill>
                <a:latin typeface="Space Grotesk"/>
              </a:rPr>
              <a:t>225089122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59560" y="5895975"/>
            <a:ext cx="756617" cy="1384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US" sz="900" b="1" i="0" u="none" dirty="0" smtClean="0">
                <a:solidFill>
                  <a:srgbClr val="64748B"/>
                </a:solidFill>
                <a:latin typeface="Inter"/>
              </a:rPr>
              <a:t>T.A LEBIDIKE</a:t>
            </a:r>
            <a:endParaRPr sz="900" b="1" i="0" u="none" dirty="0">
              <a:solidFill>
                <a:srgbClr val="64748B"/>
              </a:solidFill>
              <a:latin typeface="Inter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059560" y="6076950"/>
            <a:ext cx="2590911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CBD5E1"/>
                </a:solidFill>
                <a:latin typeface="Space Grotesk"/>
              </a:rPr>
              <a:t>224376845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4690" y="5895975"/>
            <a:ext cx="730969" cy="1384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US" sz="900" b="1" i="0" u="none" dirty="0" smtClean="0">
                <a:solidFill>
                  <a:srgbClr val="64748B"/>
                </a:solidFill>
                <a:latin typeface="Inter"/>
              </a:rPr>
              <a:t>G.G TOYANA</a:t>
            </a:r>
            <a:endParaRPr sz="900" b="1" i="0" u="none" dirty="0">
              <a:solidFill>
                <a:srgbClr val="64748B"/>
              </a:solidFill>
              <a:latin typeface="Inter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284690" y="6076950"/>
            <a:ext cx="2590725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CBD5E1"/>
                </a:solidFill>
                <a:latin typeface="Space Grotesk"/>
              </a:rPr>
              <a:t>225139987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670" y="5895975"/>
            <a:ext cx="2590911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 dirty="0">
                <a:solidFill>
                  <a:srgbClr val="64748B"/>
                </a:solidFill>
                <a:latin typeface="Inter"/>
              </a:rPr>
              <a:t>N. SIKHOSANA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670" y="6076950"/>
            <a:ext cx="2590911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CBD5E1"/>
                </a:solidFill>
                <a:latin typeface="Space Grotesk"/>
              </a:rPr>
              <a:t>223268585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dissolve/>
      </p:transition>
    </mc:Choice>
    <mc:Fallback xmlns="">
      <p:transition spd="slow">
        <p:dissolv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505075"/>
            <a:ext cx="3530500" cy="1247775"/>
          </a:xfrm>
          <a:prstGeom prst="roundRect">
            <a:avLst>
              <a:gd name="adj" fmla="val 6106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2505075"/>
            <a:ext cx="38100" cy="1247775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330600" y="2505075"/>
            <a:ext cx="3530649" cy="1247775"/>
          </a:xfrm>
          <a:prstGeom prst="roundRect">
            <a:avLst>
              <a:gd name="adj" fmla="val 6106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30600" y="2505075"/>
            <a:ext cx="38100" cy="1247775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051750" y="2505075"/>
            <a:ext cx="3530500" cy="1247775"/>
          </a:xfrm>
          <a:prstGeom prst="roundRect">
            <a:avLst>
              <a:gd name="adj" fmla="val 6106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051750" y="2505075"/>
            <a:ext cx="38100" cy="1247775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09600" y="3943350"/>
            <a:ext cx="3530500" cy="1247775"/>
          </a:xfrm>
          <a:prstGeom prst="roundRect">
            <a:avLst>
              <a:gd name="adj" fmla="val 6106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09600" y="3943350"/>
            <a:ext cx="38100" cy="1247775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330600" y="3943350"/>
            <a:ext cx="3530649" cy="1247775"/>
          </a:xfrm>
          <a:prstGeom prst="roundRect">
            <a:avLst>
              <a:gd name="adj" fmla="val 6106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30600" y="3943350"/>
            <a:ext cx="38100" cy="1247775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051750" y="3943350"/>
            <a:ext cx="3530500" cy="1247775"/>
          </a:xfrm>
          <a:prstGeom prst="roundRect">
            <a:avLst>
              <a:gd name="adj" fmla="val 6106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051750" y="3943350"/>
            <a:ext cx="38100" cy="1247775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9600" y="5334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Inter"/>
              </a:rPr>
              <a:t>PRESENTATION STRUCTURE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771525"/>
            <a:ext cx="11582400" cy="3714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Inter"/>
              </a:rPr>
              <a:t>Project Presentation Roadmap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" y="2695575"/>
            <a:ext cx="3244750" cy="866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Inter"/>
              </a:rPr>
              <a:t>01. FOUNDATION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100" y="2695575"/>
            <a:ext cx="3244899" cy="866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Inter"/>
              </a:rPr>
              <a:t>02. TECHNICAL ARCHITECTURE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2250" y="2695575"/>
            <a:ext cx="3244750" cy="866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Inter"/>
              </a:rPr>
              <a:t>03. DEMONSTRATION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" y="4133850"/>
            <a:ext cx="3244750" cy="866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Inter"/>
              </a:rPr>
              <a:t>04. EVALUATION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1100" y="4133850"/>
            <a:ext cx="3244899" cy="866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Inter"/>
              </a:rPr>
              <a:t>05. STRATEGIC IMPACT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2250" y="4133850"/>
            <a:ext cx="3244750" cy="866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Inter"/>
              </a:rPr>
              <a:t>06. FUTURE ROADMAP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962275"/>
            <a:ext cx="4083713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Inter"/>
              </a:rPr>
              <a:t>Problem &amp; Goals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" y="3238500"/>
            <a:ext cx="320665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Inter"/>
              </a:rPr>
              <a:t>Municipal challenges, core objectives, and target metrics.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9200" y="2962275"/>
            <a:ext cx="4083908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Inter"/>
              </a:rPr>
              <a:t>AI Engine &amp; System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9200" y="3238500"/>
            <a:ext cx="3206799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Inter"/>
              </a:rPr>
              <a:t>Deep Autoencoders, K-Means clustering, and data flow.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0350" y="2962275"/>
            <a:ext cx="3911649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Inter"/>
              </a:rPr>
              <a:t>Live Prototype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0350" y="3238500"/>
            <a:ext cx="320665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Inter"/>
              </a:rPr>
              <a:t>Telemetry, audit matrices, and natural language assistant.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4400550"/>
            <a:ext cx="4083713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Inter"/>
              </a:rPr>
              <a:t>Results &amp; Metrics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200" y="4676775"/>
            <a:ext cx="320665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Inter"/>
              </a:rPr>
              <a:t>Loss curves, Silhouette scores, and picking latency savings.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9200" y="4400550"/>
            <a:ext cx="4083908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Inter"/>
              </a:rPr>
              <a:t>Business &amp; Community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9200" y="4676775"/>
            <a:ext cx="3889437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Inter"/>
              </a:rPr>
              <a:t>Service delivery improvement and municipal ROI.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80350" y="4400550"/>
            <a:ext cx="3911649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Inter"/>
              </a:rPr>
              <a:t>Next Steps &amp; Closing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0350" y="4676775"/>
            <a:ext cx="388925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Inter"/>
              </a:rPr>
              <a:t>IoT expansion, mobile integration, and Q&amp;A.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dissolve/>
      </p:transition>
    </mc:Choice>
    <mc:Fallback xmlns="">
      <p:transition spd="slow">
        <p:dissolv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940843"/>
            <a:ext cx="3505200" cy="1890712"/>
          </a:xfrm>
          <a:prstGeom prst="roundRect">
            <a:avLst>
              <a:gd name="adj" fmla="val 6045"/>
            </a:avLst>
          </a:prstGeom>
          <a:solidFill>
            <a:srgbClr val="FFF1F2"/>
          </a:solidFill>
          <a:ln w="9525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2940843"/>
            <a:ext cx="3505200" cy="1890712"/>
          </a:xfrm>
          <a:prstGeom prst="roundRect">
            <a:avLst>
              <a:gd name="adj" fmla="val 6045"/>
            </a:avLst>
          </a:prstGeom>
          <a:solidFill>
            <a:srgbClr val="FFF1F2"/>
          </a:solidFill>
          <a:ln w="9525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077200" y="2940843"/>
            <a:ext cx="3505200" cy="1890712"/>
          </a:xfrm>
          <a:prstGeom prst="roundRect">
            <a:avLst>
              <a:gd name="adj" fmla="val 6045"/>
            </a:avLst>
          </a:prstGeom>
          <a:solidFill>
            <a:srgbClr val="FFF1F2"/>
          </a:solidFill>
          <a:ln w="9525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825" y="3217068"/>
            <a:ext cx="266700" cy="2667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9625" y="3217068"/>
            <a:ext cx="266700" cy="2667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3425" y="3217068"/>
            <a:ext cx="333375" cy="2667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9600" y="5334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Inter"/>
              </a:rPr>
              <a:t>CURRENT OPERATIONAL PAIN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771525"/>
            <a:ext cx="11582400" cy="3714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Inter"/>
              </a:rPr>
              <a:t>Municipal Warehouse Bottlenecks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5825" y="3636168"/>
            <a:ext cx="3875484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9F1239"/>
                </a:solidFill>
                <a:latin typeface="Inter"/>
              </a:rPr>
              <a:t>Stock Shrinkage &amp; Misplacement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825" y="3912393"/>
            <a:ext cx="3048000" cy="642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Inter"/>
              </a:rPr>
              <a:t>Manual tracking leads to unrecorded inventory movement, delayed picking, and high vulnerability to stock leakage.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9625" y="3636168"/>
            <a:ext cx="3875484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9F1239"/>
                </a:solidFill>
                <a:latin typeface="Inter"/>
              </a:rPr>
              <a:t>Suboptimal Slotting Allocation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9625" y="3912393"/>
            <a:ext cx="3048000" cy="642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Inter"/>
              </a:rPr>
              <a:t>Fast-moving municipal dispatch items are stored far from loading bays, increasing transit time per order.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3425" y="3636168"/>
            <a:ext cx="383857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9F1239"/>
                </a:solidFill>
                <a:latin typeface="Inter"/>
              </a:rPr>
              <a:t>Reactive Procurement Delays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3425" y="3912393"/>
            <a:ext cx="3048000" cy="642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Inter"/>
              </a:rPr>
              <a:t>Stockouts on critical infrastructure items occur before replenishment orders are manually flagged and processed.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dissolve/>
      </p:transition>
    </mc:Choice>
    <mc:Fallback xmlns="">
      <p:transition spd="slow">
        <p:dissolv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3062287"/>
            <a:ext cx="2600325" cy="1647825"/>
          </a:xfrm>
          <a:prstGeom prst="roundRect">
            <a:avLst>
              <a:gd name="adj" fmla="val 6936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400425" y="3062287"/>
            <a:ext cx="2600325" cy="1647825"/>
          </a:xfrm>
          <a:prstGeom prst="roundRect">
            <a:avLst>
              <a:gd name="adj" fmla="val 6936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91250" y="3062287"/>
            <a:ext cx="2600325" cy="1647825"/>
          </a:xfrm>
          <a:prstGeom prst="roundRect">
            <a:avLst>
              <a:gd name="adj" fmla="val 6936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982075" y="3062287"/>
            <a:ext cx="2600325" cy="1647825"/>
          </a:xfrm>
          <a:prstGeom prst="roundRect">
            <a:avLst>
              <a:gd name="adj" fmla="val 6936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9600" y="5334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Inter"/>
              </a:rPr>
              <a:t>MEASURABLE GOALS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771525"/>
            <a:ext cx="11582400" cy="3714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Inter"/>
              </a:rPr>
              <a:t>Objectives &amp; Success Metrics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0309" y="3290887"/>
            <a:ext cx="2678906" cy="561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3600" b="1" i="0" u="none">
                <a:solidFill>
                  <a:srgbClr val="0284C7"/>
                </a:solidFill>
                <a:latin typeface="Inter"/>
              </a:rPr>
              <a:t>38%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3336" y="3929062"/>
            <a:ext cx="2812851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F172A"/>
                </a:solidFill>
                <a:latin typeface="Inter"/>
              </a:rPr>
              <a:t>Travel Time Cut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0309" y="4157662"/>
            <a:ext cx="2678906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64748B"/>
                </a:solidFill>
                <a:latin typeface="Inter"/>
              </a:rPr>
              <a:t>Optimized picking routes via spatial slotting.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1134" y="3290887"/>
            <a:ext cx="2678906" cy="561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3600" b="1" i="0" u="none">
                <a:solidFill>
                  <a:srgbClr val="0284C7"/>
                </a:solidFill>
                <a:latin typeface="Inter"/>
              </a:rPr>
              <a:t>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4161" y="3929062"/>
            <a:ext cx="2812851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F172A"/>
                </a:solidFill>
                <a:latin typeface="Inter"/>
              </a:rPr>
              <a:t>Real-Time Visibility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1134" y="4157662"/>
            <a:ext cx="2678906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64748B"/>
                </a:solidFill>
                <a:latin typeface="Inter"/>
              </a:rPr>
              <a:t>Automated tracking of active inventory units.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1959" y="3290887"/>
            <a:ext cx="2678906" cy="561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3600" b="1" i="0" u="none">
                <a:solidFill>
                  <a:srgbClr val="0284C7"/>
                </a:solidFill>
                <a:latin typeface="Inter"/>
              </a:rPr>
              <a:t>0.002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4986" y="3929062"/>
            <a:ext cx="2812851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F172A"/>
                </a:solidFill>
                <a:latin typeface="Inter"/>
              </a:rPr>
              <a:t>MSE Loss Target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51959" y="4157662"/>
            <a:ext cx="2678906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64748B"/>
                </a:solidFill>
                <a:latin typeface="Inter"/>
              </a:rPr>
              <a:t>Precision anomaly detection threshold.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42784" y="3290887"/>
            <a:ext cx="2678906" cy="561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3600" b="1" i="0" u="none">
                <a:solidFill>
                  <a:srgbClr val="0284C7"/>
                </a:solidFill>
                <a:latin typeface="Inter"/>
              </a:rPr>
              <a:t>0.58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75811" y="3929062"/>
            <a:ext cx="2812851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F172A"/>
                </a:solidFill>
                <a:latin typeface="Inter"/>
              </a:rPr>
              <a:t>Silhouette 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42784" y="4157662"/>
            <a:ext cx="2678906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64748B"/>
                </a:solidFill>
                <a:latin typeface="Inter"/>
              </a:rPr>
              <a:t>Optimized physical layout clustering.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dissolve/>
      </p:transition>
    </mc:Choice>
    <mc:Fallback xmlns="">
      <p:transition spd="slow">
        <p:dissolv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876550"/>
            <a:ext cx="3505200" cy="2019300"/>
          </a:xfrm>
          <a:prstGeom prst="roundRect">
            <a:avLst>
              <a:gd name="adj" fmla="val 566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2876550"/>
            <a:ext cx="3505200" cy="2019300"/>
          </a:xfrm>
          <a:prstGeom prst="roundRect">
            <a:avLst>
              <a:gd name="adj" fmla="val 566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077200" y="2876550"/>
            <a:ext cx="3505200" cy="2019300"/>
          </a:xfrm>
          <a:prstGeom prst="roundRect">
            <a:avLst>
              <a:gd name="adj" fmla="val 566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00" y="3143250"/>
            <a:ext cx="457200" cy="4572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0100" y="3143250"/>
            <a:ext cx="457200" cy="4572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900" y="3143250"/>
            <a:ext cx="457200" cy="4572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362" y="3276600"/>
            <a:ext cx="219075" cy="1905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3450" y="3276600"/>
            <a:ext cx="190500" cy="1905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3437" y="3276600"/>
            <a:ext cx="238125" cy="190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5334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Inter"/>
              </a:rPr>
              <a:t>HIGH-LEVEL OVERVIEW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771525"/>
            <a:ext cx="11582400" cy="3714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Inter"/>
              </a:rPr>
              <a:t>Stockwise AI-WMS Architecture Overview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6300" y="3752850"/>
            <a:ext cx="390048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Inter"/>
              </a:rPr>
              <a:t>Live Telemetry Capture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300" y="4029075"/>
            <a:ext cx="3067050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64748B"/>
                </a:solidFill>
                <a:latin typeface="Inter"/>
              </a:rPr>
              <a:t>Monitors active stock, auto-flags low inventory levels, and records picking durations across categories.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0100" y="3752850"/>
            <a:ext cx="390048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Inter"/>
              </a:rPr>
              <a:t>Intelligent ML Processing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0100" y="4029075"/>
            <a:ext cx="3067050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64748B"/>
                </a:solidFill>
                <a:latin typeface="Inter"/>
              </a:rPr>
              <a:t>Deep Autoencoders highlight operational anomalies while K-Means optimizes physical placement.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3900" y="3752850"/>
            <a:ext cx="38481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Inter"/>
              </a:rPr>
              <a:t>Natural Language Assistant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3900" y="4029075"/>
            <a:ext cx="3067050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64748B"/>
                </a:solidFill>
                <a:latin typeface="Inter"/>
              </a:rPr>
              <a:t>Conversational AI interface allows operators to query item locations, stock levels, and expiry warnings.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dissolve/>
      </p:transition>
    </mc:Choice>
    <mc:Fallback xmlns="">
      <p:transition spd="slow">
        <p:dissolv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935783"/>
            <a:ext cx="5372100" cy="1900832"/>
          </a:xfrm>
          <a:prstGeom prst="roundRect">
            <a:avLst>
              <a:gd name="adj" fmla="val 601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10300" y="2935783"/>
            <a:ext cx="5372100" cy="1900832"/>
          </a:xfrm>
          <a:prstGeom prst="roundRect">
            <a:avLst>
              <a:gd name="adj" fmla="val 601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76300" y="3202483"/>
            <a:ext cx="1000125" cy="228600"/>
          </a:xfrm>
          <a:prstGeom prst="roundRect">
            <a:avLst>
              <a:gd name="adj" fmla="val 16666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77000" y="3202483"/>
            <a:ext cx="828675" cy="228600"/>
          </a:xfrm>
          <a:prstGeom prst="roundRect">
            <a:avLst>
              <a:gd name="adj" fmla="val 16666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9600" y="5334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Inter"/>
              </a:rPr>
              <a:t>CORE ALGORITHMS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771525"/>
            <a:ext cx="11582400" cy="3714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Inter"/>
              </a:rPr>
              <a:t>Machine Learning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3240583"/>
            <a:ext cx="9429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FFFFFF"/>
                </a:solidFill>
                <a:latin typeface="Space Grotesk"/>
              </a:rPr>
              <a:t>DEEP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3545383"/>
            <a:ext cx="6350793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Inter"/>
              </a:rPr>
              <a:t>Autoencoder Anomaly Detector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200" y="3240583"/>
            <a:ext cx="77152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FFFFFF"/>
                </a:solidFill>
                <a:latin typeface="Space Grotesk"/>
              </a:rPr>
              <a:t>CLUSTERING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0" y="3545383"/>
            <a:ext cx="57150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Inter"/>
              </a:rPr>
              <a:t>K-Means Slotting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" y="3850183"/>
            <a:ext cx="6048375" cy="2399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050" b="1" i="0" u="none">
                <a:solidFill>
                  <a:srgbClr val="475569"/>
                </a:solidFill>
                <a:latin typeface="Inter"/>
              </a:rPr>
              <a:t>Target: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 Unsupervised latency outlier 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6300" y="4090094"/>
            <a:ext cx="6048375" cy="2399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050" b="1" i="0" u="none">
                <a:solidFill>
                  <a:srgbClr val="475569"/>
                </a:solidFill>
                <a:latin typeface="Inter"/>
              </a:rPr>
              <a:t>Metric: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 MSE Reconstruction Loss ≤ 0.0024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300" y="4330005"/>
            <a:ext cx="6048375" cy="2399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050" b="1" i="0" u="none">
                <a:solidFill>
                  <a:srgbClr val="475569"/>
                </a:solidFill>
                <a:latin typeface="Inter"/>
              </a:rPr>
              <a:t>Function: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 Flags potential theft or misplaced stock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0" y="3850183"/>
            <a:ext cx="5715000" cy="2399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050" b="1" i="0" u="none">
                <a:solidFill>
                  <a:srgbClr val="475569"/>
                </a:solidFill>
                <a:latin typeface="Inter"/>
              </a:rPr>
              <a:t>Target: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 Dynamic physical layout optimization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7000" y="4090094"/>
            <a:ext cx="5715000" cy="2399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050" b="1" i="0" u="none">
                <a:solidFill>
                  <a:srgbClr val="475569"/>
                </a:solidFill>
                <a:latin typeface="Inter"/>
              </a:rPr>
              <a:t>Metric: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 Silhouette Score = 0.58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7000" y="4330005"/>
            <a:ext cx="5715000" cy="2399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050" b="1" i="0" u="none">
                <a:solidFill>
                  <a:srgbClr val="475569"/>
                </a:solidFill>
                <a:latin typeface="Inter"/>
              </a:rPr>
              <a:t>Function: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 Clusters fast-movers near dispatch docks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dissolve/>
      </p:transition>
    </mc:Choice>
    <mc:Fallback xmlns="">
      <p:transition spd="slow">
        <p:dissolv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3352800"/>
            <a:ext cx="2419350" cy="1066800"/>
          </a:xfrm>
          <a:prstGeom prst="roundRect">
            <a:avLst>
              <a:gd name="adj" fmla="val 7142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467100" y="3352800"/>
            <a:ext cx="2419350" cy="1066800"/>
          </a:xfrm>
          <a:prstGeom prst="roundRect">
            <a:avLst>
              <a:gd name="adj" fmla="val 7142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324600" y="3362325"/>
            <a:ext cx="2400300" cy="1047750"/>
          </a:xfrm>
          <a:prstGeom prst="roundRect">
            <a:avLst>
              <a:gd name="adj" fmla="val 7272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163050" y="3352800"/>
            <a:ext cx="2419350" cy="1066800"/>
          </a:xfrm>
          <a:prstGeom prst="roundRect">
            <a:avLst>
              <a:gd name="adj" fmla="val 7142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1350" y="3810000"/>
            <a:ext cx="133350" cy="1524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8850" y="3810000"/>
            <a:ext cx="133350" cy="1524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3810000"/>
            <a:ext cx="133350" cy="1524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9262" y="3552825"/>
            <a:ext cx="200025" cy="2286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3900" y="3552825"/>
            <a:ext cx="285750" cy="2286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1875" y="3552825"/>
            <a:ext cx="285750" cy="2286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4137" y="3552825"/>
            <a:ext cx="257175" cy="228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5334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Inter"/>
              </a:rPr>
              <a:t>SYSTEM INTEGRATION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771525"/>
            <a:ext cx="11582400" cy="3714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Inter"/>
              </a:rPr>
              <a:t>Data Pipeline &amp; Component Architecture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4109" y="3857625"/>
            <a:ext cx="2650331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0F172A"/>
                </a:solidFill>
                <a:latin typeface="Inter"/>
              </a:rPr>
              <a:t>Municipal 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212" y="4076700"/>
            <a:ext cx="2524125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 b="0" i="0" u="none">
                <a:solidFill>
                  <a:srgbClr val="64748B"/>
                </a:solidFill>
                <a:latin typeface="Inter"/>
              </a:rPr>
              <a:t>Pharma, Auto, Groceries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51609" y="3857625"/>
            <a:ext cx="2650331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0F172A"/>
                </a:solidFill>
                <a:latin typeface="Inter"/>
              </a:rPr>
              <a:t>Streamlit Engine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14712" y="4076700"/>
            <a:ext cx="2524125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 b="0" i="0" u="none">
                <a:solidFill>
                  <a:srgbClr val="64748B"/>
                </a:solidFill>
                <a:latin typeface="Inter"/>
              </a:rPr>
              <a:t>Real-time Telemetry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9584" y="3857625"/>
            <a:ext cx="2650331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FFFFFF"/>
                </a:solidFill>
                <a:latin typeface="Inter"/>
              </a:rPr>
              <a:t>ML Pipeline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2687" y="4076700"/>
            <a:ext cx="2524125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 b="0" i="0" u="none">
                <a:solidFill>
                  <a:srgbClr val="FFFFFF"/>
                </a:solidFill>
                <a:latin typeface="Inter"/>
              </a:rPr>
              <a:t>Autoencoder + K-Means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47559" y="3857625"/>
            <a:ext cx="2650331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0F172A"/>
                </a:solidFill>
                <a:latin typeface="Inter"/>
              </a:rPr>
              <a:t>Operator 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0662" y="4076700"/>
            <a:ext cx="2524125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 b="0" i="0" u="none">
                <a:solidFill>
                  <a:srgbClr val="64748B"/>
                </a:solidFill>
                <a:latin typeface="Inter"/>
              </a:rPr>
              <a:t>Alerts &amp; Assistant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dissolve/>
      </p:transition>
    </mc:Choice>
    <mc:Fallback xmlns="">
      <p:transition spd="slow">
        <p:dissolv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1371600"/>
            <a:ext cx="10972800" cy="4953000"/>
          </a:xfrm>
          <a:prstGeom prst="roundRect">
            <a:avLst>
              <a:gd name="adj" fmla="val 2307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38200" y="5819775"/>
            <a:ext cx="10515600" cy="2762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38200" y="5819775"/>
            <a:ext cx="1051560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09600" y="5334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Inter"/>
              </a:rPr>
              <a:t>LIVE INTERFACE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771525"/>
            <a:ext cx="11582400" cy="3714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Inter"/>
              </a:rPr>
              <a:t>Conversational AI Interface 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600200"/>
            <a:ext cx="113538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38BDF8"/>
                </a:solidFill>
                <a:latin typeface="Space Grotesk"/>
              </a:rPr>
              <a:t>[SIMULATED CONVERSATION LOGS - LIVE DEPOT ASSISTANT]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5943600"/>
            <a:ext cx="2786062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64748B"/>
                </a:solidFill>
                <a:latin typeface="Space Grotesk"/>
              </a:rPr>
              <a:t>Direct Anomaly &amp; Location Query Module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48875" y="5943600"/>
            <a:ext cx="1631156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38BDF8"/>
                </a:solidFill>
                <a:latin typeface="Space Grotesk"/>
              </a:rPr>
              <a:t>Streamlit Engine Active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914525"/>
            <a:ext cx="113538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94A3B8"/>
                </a:solidFill>
                <a:latin typeface="Inter"/>
              </a:rPr>
              <a:t>User:</a:t>
            </a:r>
            <a:r>
              <a:rPr sz="1050" b="0" i="0" u="none">
                <a:solidFill>
                  <a:srgbClr val="94A3B8"/>
                </a:solidFill>
                <a:latin typeface="Inter"/>
              </a:rPr>
              <a:t> Where is the medicine?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114550"/>
            <a:ext cx="113538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4ADE80"/>
                </a:solidFill>
                <a:latin typeface="Inter"/>
              </a:rPr>
              <a:t>Bot:</a:t>
            </a:r>
            <a:r>
              <a:rPr sz="1050" b="0" i="0" u="none">
                <a:solidFill>
                  <a:srgbClr val="4ADE80"/>
                </a:solidFill>
                <a:latin typeface="Inter"/>
              </a:rPr>
              <a:t> Medicine is kept in the secure Pharma cabinet, Aisle 5. Please check expiry before dispensing.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2428875"/>
            <a:ext cx="113538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94A3B8"/>
                </a:solidFill>
                <a:latin typeface="Inter"/>
              </a:rPr>
              <a:t>User:</a:t>
            </a:r>
            <a:r>
              <a:rPr sz="1050" b="0" i="0" u="none">
                <a:solidFill>
                  <a:srgbClr val="94A3B8"/>
                </a:solidFill>
                <a:latin typeface="Inter"/>
              </a:rPr>
              <a:t> Where is the blue cable?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628900"/>
            <a:ext cx="113538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4ADE80"/>
                </a:solidFill>
                <a:latin typeface="Inter"/>
              </a:rPr>
              <a:t>Bot:</a:t>
            </a:r>
            <a:r>
              <a:rPr sz="1050" b="0" i="0" u="none">
                <a:solidFill>
                  <a:srgbClr val="4ADE80"/>
                </a:solidFill>
                <a:latin typeface="Inter"/>
              </a:rPr>
              <a:t> 16mm Electrical Cable is in Aisle 3, Shelf 2. Quantity: 15 units remaining.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dissolve/>
      </p:transition>
    </mc:Choice>
    <mc:Fallback xmlns="">
      <p:transition spd="slow">
        <p:dissolv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981325"/>
            <a:ext cx="5372100" cy="1809750"/>
          </a:xfrm>
          <a:prstGeom prst="roundRect">
            <a:avLst>
              <a:gd name="adj" fmla="val 6315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10300" y="2981325"/>
            <a:ext cx="5372100" cy="1809750"/>
          </a:xfrm>
          <a:prstGeom prst="roundRect">
            <a:avLst>
              <a:gd name="adj" fmla="val 6315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9600" y="5334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Inter"/>
              </a:rPr>
              <a:t>MODEL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71525"/>
            <a:ext cx="11582400" cy="3714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Inter"/>
              </a:rPr>
              <a:t>Evaluation &amp; Performance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3248025"/>
            <a:ext cx="6048375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Space Grotesk"/>
              </a:rPr>
              <a:t>ANOMALY METRICS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3495675"/>
            <a:ext cx="6048375" cy="561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600" b="1" i="0" u="none">
                <a:solidFill>
                  <a:srgbClr val="0F172A"/>
                </a:solidFill>
                <a:latin typeface="Inter"/>
              </a:rPr>
              <a:t>0.0024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300" y="4133850"/>
            <a:ext cx="6350793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Inter"/>
              </a:rPr>
              <a:t>MSE Reconstruction Loss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4362450"/>
            <a:ext cx="6048375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Inter"/>
              </a:rPr>
              <a:t>Detects 12 specific picking anomalies per shift reliably.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0" y="3248025"/>
            <a:ext cx="5715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Space Grotesk"/>
              </a:rPr>
              <a:t>SLOTTING METRICS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0" y="3495675"/>
            <a:ext cx="5715000" cy="561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600" b="1" i="0" u="none">
                <a:solidFill>
                  <a:srgbClr val="0F172A"/>
                </a:solidFill>
                <a:latin typeface="Inter"/>
              </a:rPr>
              <a:t>0.58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0" y="4133850"/>
            <a:ext cx="571500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Inter"/>
              </a:rPr>
              <a:t>Silhouette 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0" y="4362450"/>
            <a:ext cx="57150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Inter"/>
              </a:rPr>
              <a:t>Clusters fast-moving stock dynamically near dispatch docks.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dissolve/>
      </p:transition>
    </mc:Choice>
    <mc:Fallback xmlns="">
      <p:transition spd="slow">
        <p:dissolv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3052762"/>
            <a:ext cx="3530649" cy="1666875"/>
          </a:xfrm>
          <a:prstGeom prst="roundRect">
            <a:avLst>
              <a:gd name="adj" fmla="val 685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30749" y="3052762"/>
            <a:ext cx="3530649" cy="1666875"/>
          </a:xfrm>
          <a:prstGeom prst="roundRect">
            <a:avLst>
              <a:gd name="adj" fmla="val 685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051899" y="3052762"/>
            <a:ext cx="3530649" cy="1666875"/>
          </a:xfrm>
          <a:prstGeom prst="roundRect">
            <a:avLst>
              <a:gd name="adj" fmla="val 685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09600" y="5334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Inter"/>
              </a:rPr>
              <a:t>SYSTEM RELIABILITY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771525"/>
            <a:ext cx="11582400" cy="3714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Inter"/>
              </a:rPr>
              <a:t>Risks, Constraints &amp; Mitigations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3281362"/>
            <a:ext cx="3168699" cy="12096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E11D48"/>
                </a:solidFill>
                <a:latin typeface="Inter"/>
              </a:rPr>
              <a:t>RISK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59349" y="3281362"/>
            <a:ext cx="3168699" cy="12096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E11D48"/>
                </a:solidFill>
                <a:latin typeface="Inter"/>
              </a:rPr>
              <a:t>RISK 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80499" y="3281362"/>
            <a:ext cx="3168699" cy="12096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E11D48"/>
                </a:solidFill>
                <a:latin typeface="Inter"/>
              </a:rPr>
              <a:t>RISK 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3548062"/>
            <a:ext cx="4033902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Inter"/>
              </a:rPr>
              <a:t>Sensor / Input Noise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3824287"/>
            <a:ext cx="3168699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64748B"/>
                </a:solidFill>
                <a:latin typeface="Inter"/>
              </a:rPr>
              <a:t>Manual entry errors distorting picking durations and triggering false alerts.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4338637"/>
            <a:ext cx="3841812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0284C7"/>
                </a:solidFill>
                <a:latin typeface="Inter"/>
              </a:rPr>
              <a:t>Mitigation: Autoencoder noise-filtering layer.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9349" y="3548062"/>
            <a:ext cx="4033902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Inter"/>
              </a:rPr>
              <a:t>Network Disruption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9349" y="3824287"/>
            <a:ext cx="3168699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64748B"/>
                </a:solidFill>
                <a:latin typeface="Inter"/>
              </a:rPr>
              <a:t>Loss of connectivity interrupting live telemetry updates from depot floors.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9349" y="4338637"/>
            <a:ext cx="3841812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0284C7"/>
                </a:solidFill>
                <a:latin typeface="Inter"/>
              </a:rPr>
              <a:t>Mitigation: Local Streamlit offline queue buffer.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0499" y="3548062"/>
            <a:ext cx="39115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Inter"/>
              </a:rPr>
              <a:t>Operator Resistance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0499" y="3824287"/>
            <a:ext cx="3168699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64748B"/>
                </a:solidFill>
                <a:latin typeface="Inter"/>
              </a:rPr>
              <a:t>Reluctance from floor staff to adopt new conversational query workflows.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0499" y="4338637"/>
            <a:ext cx="3841812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0284C7"/>
                </a:solidFill>
                <a:latin typeface="Inter"/>
              </a:rPr>
              <a:t>Mitigation: Voice-enabled natural language queries.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dissolve/>
      </p:transition>
    </mc:Choice>
    <mc:Fallback xmlns="">
      <p:transition spd="slow">
        <p:dissolv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3062287"/>
            <a:ext cx="5372100" cy="1647825"/>
          </a:xfrm>
          <a:prstGeom prst="roundRect">
            <a:avLst>
              <a:gd name="adj" fmla="val 6936"/>
            </a:avLst>
          </a:prstGeom>
          <a:solidFill>
            <a:srgbClr val="F0F9FF"/>
          </a:solidFill>
          <a:ln w="9525">
            <a:solidFill>
              <a:srgbClr val="BAE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10300" y="3062287"/>
            <a:ext cx="5372100" cy="1647825"/>
          </a:xfrm>
          <a:prstGeom prst="roundRect">
            <a:avLst>
              <a:gd name="adj" fmla="val 6936"/>
            </a:avLst>
          </a:prstGeom>
          <a:solidFill>
            <a:srgbClr val="F0F9FF"/>
          </a:solidFill>
          <a:ln w="9525">
            <a:solidFill>
              <a:srgbClr val="BAE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825" y="3338512"/>
            <a:ext cx="266700" cy="2667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6525" y="3338512"/>
            <a:ext cx="333375" cy="2667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" y="5334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Inter"/>
              </a:rPr>
              <a:t>VALUE CREATION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771525"/>
            <a:ext cx="11582400" cy="3714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Inter"/>
              </a:rPr>
              <a:t>Business &amp; Community 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5825" y="3757612"/>
            <a:ext cx="632579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369A1"/>
                </a:solidFill>
                <a:latin typeface="Inter"/>
              </a:rPr>
              <a:t>Municipal Resource Savings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5825" y="4033837"/>
            <a:ext cx="491490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334155"/>
                </a:solidFill>
                <a:latin typeface="Inter"/>
              </a:rPr>
              <a:t>Reduces inventory shrinkage and prevents over-procurement across all municipal dispatch categories.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6525" y="3757612"/>
            <a:ext cx="570547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369A1"/>
                </a:solidFill>
                <a:latin typeface="Inter"/>
              </a:rPr>
              <a:t>Accelerated Service Delivery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6525" y="4033837"/>
            <a:ext cx="491490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334155"/>
                </a:solidFill>
                <a:latin typeface="Inter"/>
              </a:rPr>
              <a:t>Speeds up dispatch of maintenance parts and pharmaceuticals to municipal facilities and community clinics.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dissolve/>
      </p:transition>
    </mc:Choice>
    <mc:Fallback xmlns="">
      <p:transition spd="slow">
        <p:dissolv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3222426"/>
            <a:ext cx="5372100" cy="1327546"/>
          </a:xfrm>
          <a:prstGeom prst="roundRect">
            <a:avLst>
              <a:gd name="adj" fmla="val 8609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10300" y="3222426"/>
            <a:ext cx="5372100" cy="1327546"/>
          </a:xfrm>
          <a:prstGeom prst="roundRect">
            <a:avLst>
              <a:gd name="adj" fmla="val 8609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9600" y="5334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Inter"/>
              </a:rPr>
              <a:t>SYSTEM EVOLUTION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71525"/>
            <a:ext cx="11582400" cy="3714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Inter"/>
              </a:rPr>
              <a:t>Limitations &amp; 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3489126"/>
            <a:ext cx="6350793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Inter"/>
              </a:rPr>
              <a:t>Current 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7000" y="3489126"/>
            <a:ext cx="57150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Inter"/>
              </a:rPr>
              <a:t>Future Enhancements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300" y="3803451"/>
            <a:ext cx="6048375" cy="2399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050" b="0" i="0" u="none">
                <a:solidFill>
                  <a:srgbClr val="64748B"/>
                </a:solidFill>
                <a:latin typeface="Inter"/>
              </a:rPr>
              <a:t>• Simulated picking telemetry instead of hardware RFID tags.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4043362"/>
            <a:ext cx="6048375" cy="2399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050" b="0" i="0" u="none">
                <a:solidFill>
                  <a:srgbClr val="64748B"/>
                </a:solidFill>
                <a:latin typeface="Inter"/>
              </a:rPr>
              <a:t>• Single-depot layout model for Emfuleni main warehouse.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0" y="3803451"/>
            <a:ext cx="5715000" cy="2399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050" b="0" i="0" u="none">
                <a:solidFill>
                  <a:srgbClr val="64748B"/>
                </a:solidFill>
                <a:latin typeface="Inter"/>
              </a:rPr>
              <a:t>• IoT RFID scanner integration for continuous live tracking.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0" y="4043362"/>
            <a:ext cx="5715000" cy="2399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050" b="0" i="0" u="none">
                <a:solidFill>
                  <a:srgbClr val="64748B"/>
                </a:solidFill>
                <a:latin typeface="Inter"/>
              </a:rPr>
              <a:t>• Cross-depot municipal multi-facility inventory routing.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dissolve/>
      </p:transition>
    </mc:Choice>
    <mc:Fallback xmlns="">
      <p:transition spd="slow">
        <p:dissolv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3252787"/>
            <a:ext cx="5372100" cy="1266825"/>
          </a:xfrm>
          <a:prstGeom prst="roundRect">
            <a:avLst>
              <a:gd name="adj" fmla="val 9022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10300" y="3252787"/>
            <a:ext cx="5372100" cy="1266825"/>
          </a:xfrm>
          <a:prstGeom prst="roundRect">
            <a:avLst>
              <a:gd name="adj" fmla="val 9022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9600" y="5334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Inter"/>
              </a:rPr>
              <a:t>SUMMARY &amp;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71525"/>
            <a:ext cx="11582400" cy="3714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Inter"/>
              </a:rPr>
              <a:t>Conclusion &amp; 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3519487"/>
            <a:ext cx="493395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Inter"/>
              </a:rPr>
              <a:t>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7000" y="3519487"/>
            <a:ext cx="493395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Inter"/>
              </a:rPr>
              <a:t>RECOMMENDATIONS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300" y="3824287"/>
            <a:ext cx="493395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334155"/>
                </a:solidFill>
                <a:latin typeface="Inter"/>
              </a:rPr>
              <a:t>Stockwise AI successfully converts manual municipal warehouse operations into an automated, anomaly-aware ecosystem.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0" y="3824287"/>
            <a:ext cx="493395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334155"/>
                </a:solidFill>
                <a:latin typeface="Inter"/>
              </a:rPr>
              <a:t>Proceed with full physical IoT deployment at Emfuleni Municipality and integrate with local procurement workflows.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dissolve/>
      </p:transition>
    </mc:Choice>
    <mc:Fallback xmlns="">
      <p:transition spd="slow">
        <p:dissolv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750676" y="4142678"/>
            <a:ext cx="2638096" cy="568114"/>
          </a:xfrm>
          <a:prstGeom prst="roundRect">
            <a:avLst>
              <a:gd name="adj" fmla="val 14545"/>
            </a:avLst>
          </a:prstGeom>
          <a:solidFill>
            <a:srgbClr val="0D2742"/>
          </a:solidFill>
          <a:ln w="9525">
            <a:solidFill>
              <a:srgbClr val="0B38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025528" y="2333625"/>
            <a:ext cx="4140942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000" b="1" i="0" u="none" dirty="0">
                <a:solidFill>
                  <a:srgbClr val="0284C7"/>
                </a:solidFill>
                <a:latin typeface="Inter"/>
              </a:rPr>
              <a:t>EMFULENI LOCAL MUNICIPALITY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56353" y="2793801"/>
            <a:ext cx="6079293" cy="123110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8000" b="1" i="0" u="none" dirty="0">
                <a:solidFill>
                  <a:srgbClr val="F8FAFC"/>
                </a:solidFill>
                <a:latin typeface="Space Grotesk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4390" y="5125737"/>
            <a:ext cx="6703218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0" i="0" u="none">
                <a:solidFill>
                  <a:srgbClr val="94A3B8"/>
                </a:solidFill>
                <a:latin typeface="Inter"/>
              </a:rPr>
              <a:t>Stockwise AI-WMS Project Team • 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62549" y="4317197"/>
            <a:ext cx="1724025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u="none" dirty="0">
                <a:solidFill>
                  <a:srgbClr val="38BDF8"/>
                </a:solidFill>
                <a:latin typeface="Inter"/>
              </a:rPr>
              <a:t>ANY QUESTIONS?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dissolve/>
      </p:transition>
    </mc:Choice>
    <mc:Fallback xmlns="">
      <p:transition spd="slow">
        <p:dissolv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719</Words>
  <Application>Microsoft Office PowerPoint</Application>
  <PresentationFormat>Widescreen</PresentationFormat>
  <Paragraphs>142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Inter</vt:lpstr>
      <vt:lpstr>Arial</vt:lpstr>
      <vt:lpstr>Space Grotesk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Thatego Lebidike</dc:creator>
  <cp:keywords/>
  <dc:description>generated using python-pptx</dc:description>
  <cp:lastModifiedBy>Thatego Lebidike</cp:lastModifiedBy>
  <cp:revision>3</cp:revision>
  <dcterms:created xsi:type="dcterms:W3CDTF">2013-01-27T09:14:16Z</dcterms:created>
  <dcterms:modified xsi:type="dcterms:W3CDTF">2026-10-29T13:44:02Z</dcterms:modified>
  <cp:category/>
</cp:coreProperties>
</file>