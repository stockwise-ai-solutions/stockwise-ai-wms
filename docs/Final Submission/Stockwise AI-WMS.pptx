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Space Grotesk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10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496174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38772"/>
            <a:ext cx="10316414" cy="647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8000" b="1" i="0" u="none" dirty="0">
                <a:solidFill>
                  <a:srgbClr val="F8FAFC"/>
                </a:solidFill>
                <a:latin typeface="Space Grotesk"/>
              </a:rPr>
              <a:t>STOCKWISE AI-WMS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9923"/>
            <a:ext cx="67627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94A3B8"/>
                </a:solidFill>
                <a:latin typeface="Inter"/>
              </a:rPr>
              <a:t>AI-Driven Inventory Monitoring, Real-Time Anomaly Detection &amp; Predictive Dispatch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95975"/>
            <a:ext cx="78867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 smtClean="0">
                <a:solidFill>
                  <a:srgbClr val="64748B"/>
                </a:solidFill>
                <a:latin typeface="Inter"/>
              </a:rPr>
              <a:t>N.</a:t>
            </a:r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E</a:t>
            </a:r>
            <a:r>
              <a:rPr sz="900" b="1" i="0" u="none" dirty="0" smtClean="0">
                <a:solidFill>
                  <a:srgbClr val="64748B"/>
                </a:solidFill>
                <a:latin typeface="Inter"/>
              </a:rPr>
              <a:t> </a:t>
            </a:r>
            <a:r>
              <a:rPr sz="900" b="1" i="0" u="none" dirty="0">
                <a:solidFill>
                  <a:srgbClr val="64748B"/>
                </a:solidFill>
                <a:latin typeface="Inter"/>
              </a:rPr>
              <a:t>TSOTETSI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225118157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580" y="5895975"/>
            <a:ext cx="2590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Inter"/>
              </a:rPr>
              <a:t>A. MAKAMOLE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58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225089122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560" y="5895975"/>
            <a:ext cx="75661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T.A LEBIDIKE</a:t>
            </a:r>
            <a:endParaRPr sz="9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59560" y="6076950"/>
            <a:ext cx="25909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224376845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690" y="5895975"/>
            <a:ext cx="73096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G.G TOYANA</a:t>
            </a:r>
            <a:endParaRPr sz="9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8469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225139987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670" y="5895975"/>
            <a:ext cx="259091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Inter"/>
              </a:rPr>
              <a:t>N. SIKHOSANA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670" y="6076950"/>
            <a:ext cx="25909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223268585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505075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30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5175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0600" y="3943350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0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5175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175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PRESENTATION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Project Presentation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695575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01.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00" y="2695575"/>
            <a:ext cx="32448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02. TECHNICAL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2250" y="2695575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03. DEMONSTRATION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133850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04.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00" y="4133850"/>
            <a:ext cx="32448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05. STRATEGIC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250" y="4133850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06. FUTURE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962275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Problem &amp;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238500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Municipal challenges, core objectives, and target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200" y="2962275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AI Engine &amp;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200" y="3238500"/>
            <a:ext cx="32067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Deep Autoencoders, K-Means clustering, and data 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350" y="2962275"/>
            <a:ext cx="39116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Live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350" y="3238500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Telemetry, audit matrices, and natural language assistant.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400550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Results &amp;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676775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Loss curves, Silhouette scores, and picking latency savings.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9200" y="4400550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Business &amp; 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9200" y="4676775"/>
            <a:ext cx="388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Service delivery improvement and municipal ROI.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350" y="4400550"/>
            <a:ext cx="39116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Next Steps &amp; Closing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350" y="467677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IoT expansion, mobile integration, and Q&amp;A.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17068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17068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17068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CURRENT OPERATIONAL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Municipal Warehouse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616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Stock Shrinkage &amp; Misplacement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Manual tracking leads to unrecorded inventory movement, delayed picking, and high vulnerability to stock leakage.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616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Suboptimal Slotting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Fast-moving municipal dispatch items are stored far from loading bays, increasing transit time per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6168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Reactive Procurement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Stockouts on critical infrastructure items occur before replenishment orders are manually flagged and processed.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MEASURABLE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Objectives &amp;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309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336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Travel Time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309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Optimized picking routes via spatial slotting.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1134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4161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Real-Time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1134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Automated tracking of active inventory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1959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0.002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986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MSE Loss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1959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Precision anomaly detection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784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0.58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5811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Optimized physical layout clustering.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432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432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143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327660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2766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437" y="327660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HIGH-LEVEL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Stockwise AI-WMS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528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Live Telemetry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Monitors active stock, auto-flags low inventory levels, and records picking durations across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7528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Intelligent ML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Deep Autoencoders highlight operational anomalies while K-Means optimizes physical placement.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52850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Natural Language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Conversational AI interface allows operators to query item locations, stock levels, and expiry warnings.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202483"/>
            <a:ext cx="100012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77000" y="3202483"/>
            <a:ext cx="82867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CORE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Machine Learning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40583"/>
            <a:ext cx="942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Space Grotesk"/>
              </a:rP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45383"/>
            <a:ext cx="361567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0F172A"/>
                </a:solidFill>
                <a:latin typeface="Inter"/>
              </a:rPr>
              <a:t>Deep Learning (MLP) Anomaly Detector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240583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Space Grotesk"/>
              </a:rPr>
              <a:t>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45383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K-Means Slotting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50183"/>
            <a:ext cx="2625719" cy="2133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sz="1050" b="1" i="0" u="none" dirty="0">
                <a:solidFill>
                  <a:srgbClr val="475569"/>
                </a:solidFill>
                <a:latin typeface="Inter"/>
              </a:rPr>
              <a:t>Target</a:t>
            </a:r>
            <a:r>
              <a:rPr sz="1050" b="1" i="0" u="none">
                <a:solidFill>
                  <a:srgbClr val="475569"/>
                </a:solidFill>
                <a:latin typeface="Inter"/>
              </a:rPr>
              <a:t>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>
                <a:solidFill>
                  <a:srgbClr val="475569"/>
                </a:solidFill>
                <a:latin typeface="Inter"/>
              </a:rPr>
              <a:t>Unsupervised MLP outlier detection</a:t>
            </a:r>
            <a:endParaRPr sz="10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090094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MSE Reconstruction Loss ≤ 0.0024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330005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Flags potential theft or misplaced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850183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Dynamic physical layout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90094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Silhouette Score = 0.58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330005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Clusters fast-movers near dispatch docks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362325"/>
            <a:ext cx="2400300" cy="1047750"/>
          </a:xfrm>
          <a:prstGeom prst="roundRect">
            <a:avLst>
              <a:gd name="adj" fmla="val 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6305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81000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8100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100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2" y="355282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3552825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75" y="355282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137" y="355282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Data Pipeline &amp; Component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10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Municipal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Pharma, Auto, Groceries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160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Streamlit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471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Real-time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584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Inter"/>
              </a:rPr>
              <a:t>ML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2687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Inter"/>
              </a:rPr>
              <a:t>Autoencoder +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755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Operator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066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Alerts &amp; Assistant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10972800" cy="4953000"/>
          </a:xfrm>
          <a:prstGeom prst="roundRect">
            <a:avLst>
              <a:gd name="adj" fmla="val 23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5819775"/>
            <a:ext cx="105156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5819775"/>
            <a:ext cx="10515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LIVE INTERFACE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Conversational AI Interface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60020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Space Grotesk"/>
              </a:rPr>
              <a:t>[SIMULATED CONVERSATION LOGS - LIVE DEPOT ASSISTANT]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943600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Space Grotesk"/>
              </a:rPr>
              <a:t>Direct Anomaly &amp; Location Query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8875" y="5943600"/>
            <a:ext cx="1631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Space Grotesk"/>
              </a:rPr>
              <a:t>Streamlit Engine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9145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User: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Where is the medicine?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1455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Inter"/>
              </a:rPr>
              <a:t>Bot:</a:t>
            </a:r>
            <a:r>
              <a:rPr sz="1050" b="0" i="0" u="none">
                <a:solidFill>
                  <a:srgbClr val="4ADE80"/>
                </a:solidFill>
                <a:latin typeface="Inter"/>
              </a:rPr>
              <a:t> Medicine is kept in the secure Pharma cabinet, Aisle 5. Please check expiry before dispensing.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2887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User: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Where is the blue cable?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2890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Inter"/>
              </a:rPr>
              <a:t>Bot:</a:t>
            </a:r>
            <a:r>
              <a:rPr sz="1050" b="0" i="0" u="none">
                <a:solidFill>
                  <a:srgbClr val="4ADE80"/>
                </a:solidFill>
                <a:latin typeface="Inter"/>
              </a:rPr>
              <a:t> 16mm Electrical Cable is in Aisle 3, Shelf 2. Quantity: 15 units remaining.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Evaluation &amp;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8025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ANOMALY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95675"/>
            <a:ext cx="6048375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0.0024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3850"/>
            <a:ext cx="19508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Inter"/>
              </a:rPr>
              <a:t>MSE Loss (Deep Learning)</a:t>
            </a:r>
            <a:endParaRPr sz="12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4362450"/>
            <a:ext cx="6048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Detects 12 specific picking anomalies per shift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248025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SLOTTING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495675"/>
            <a:ext cx="5715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0.58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13385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362450"/>
            <a:ext cx="571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Clusters fast-moving stock dynamically near dispatch docks.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Risks, Constraints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48062"/>
            <a:ext cx="403390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Sensor / Input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Manual entry errors distorting picking durations and triggering false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38637"/>
            <a:ext cx="244137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975" b="1">
                <a:solidFill>
                  <a:srgbClr val="0284C7"/>
                </a:solidFill>
                <a:latin typeface="Inter"/>
              </a:rPr>
              <a:t>Deep Learning (MLP) noise-filtering layer</a:t>
            </a:r>
            <a:endParaRPr sz="975" b="1" i="0" u="none" dirty="0">
              <a:solidFill>
                <a:srgbClr val="0284C7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59349" y="3548062"/>
            <a:ext cx="403390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Network Disruption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Loss of connectivity interrupting live telemetry updates from depot floors.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49" y="4338637"/>
            <a:ext cx="3841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Mitigation: Local Streamlit offline queue buffer.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548062"/>
            <a:ext cx="391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Operator 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Reluctance from floor staff to adopt new conversational query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338637"/>
            <a:ext cx="3841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Mitigation: Voice-enabled natural language queries.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33851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VALUE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Business &amp; Community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7612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Municipal Resource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33837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Reduces inventory shrinkage and prevents over-procurement across all municipal dispatch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757612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Accelerated Service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033837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Speeds up dispatch of maintenance parts and pharmaceuticals to municipal facilities and community clinics.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89126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489126"/>
            <a:ext cx="571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03451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Simulated picking telemetry instead of hardware RFID 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43362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Single-depot layout model for Emfuleni main warehouse.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803451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IoT RFID scanner integration for continuous live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043362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Cross-depot municipal multi-facility inventory routing.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SUMMARY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519487"/>
            <a:ext cx="49339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519487"/>
            <a:ext cx="49339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24287"/>
            <a:ext cx="4933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Stockwise AI successfully converts manual municipal warehouse operations into an automated, anomaly-aware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824287"/>
            <a:ext cx="4933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Proceed with full physical IoT deployment at Emfuleni Municipality and integrate with local procurement workflows.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50676" y="4142678"/>
            <a:ext cx="2638096" cy="568114"/>
          </a:xfrm>
          <a:prstGeom prst="roundRect">
            <a:avLst>
              <a:gd name="adj" fmla="val 14545"/>
            </a:avLst>
          </a:prstGeom>
          <a:solidFill>
            <a:srgbClr val="0D2742"/>
          </a:solidFill>
          <a:ln w="9525">
            <a:solidFill>
              <a:srgbClr val="0B3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5528" y="2333625"/>
            <a:ext cx="414094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6353" y="2793801"/>
            <a:ext cx="6079293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0" b="1" i="0" u="none" dirty="0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4390" y="5125737"/>
            <a:ext cx="67032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Stockwise AI-WMS Project Team •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2549" y="4317197"/>
            <a:ext cx="17240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38BDF8"/>
                </a:solidFill>
                <a:latin typeface="Inter"/>
              </a:rPr>
              <a:t>ANY 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727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Inter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Thatego Lebidike</dc:creator>
  <cp:keywords/>
  <dc:description>generated using python-pptx</dc:description>
  <cp:lastModifiedBy>Thatego Lebidike</cp:lastModifiedBy>
  <cp:revision>5</cp:revision>
  <dcterms:created xsi:type="dcterms:W3CDTF">2013-01-27T09:14:16Z</dcterms:created>
  <dcterms:modified xsi:type="dcterms:W3CDTF">2026-10-30T20:46:41Z</dcterms:modified>
  <cp:category/>
</cp:coreProperties>
</file>